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INDUSTRIAL AND PRODUCTION ENGINEERING | BUET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Performance and Robustness Analysis of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 Vogel's and Modified Russell's Approximation Methods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Interval Type-2 Trapezoidal Fuzzy Uncertainty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914400" y="3154680"/>
            <a:ext cx="7315200" cy="0"/>
          </a:xfrm>
          <a:prstGeom prst="line">
            <a:avLst/>
          </a:prstGeom>
          <a:noFill/>
          <a:ln w="25400">
            <a:solidFill>
              <a:srgbClr val="0D7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Sadiqul Haque  (ID: 2008082)     |     Md Tanjil Haque  (ID: 2008094)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7307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by: Dr. Kais Bin Zaman, Professor, IPE, BUET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B.Sc. in Industrial &amp; Production Engineering  |  June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846320"/>
            <a:ext cx="8595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BUET — Bangladesh University of Engineering and Technology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80467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58952" y="868680"/>
            <a:ext cx="0" cy="219456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8046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Transportation Problem Background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07008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120700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58952" y="1271016"/>
            <a:ext cx="0" cy="219456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2070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Modeling: T1 vs IT2 Fuzzy Sets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1609344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" y="160934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58952" y="1673352"/>
            <a:ext cx="0" cy="219456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160934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 &amp; Problem Statement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011680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20116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8952" y="2075688"/>
            <a:ext cx="0" cy="219456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0116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 &amp; Scope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2414016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241401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8952" y="2478024"/>
            <a:ext cx="0" cy="219456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24140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IT2 Fuzzy Framework: Fuzzification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2816352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347472" y="28163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58952" y="2880360"/>
            <a:ext cx="0" cy="219456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281635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IT2 Fuzzy Framework: KM &amp; Defuzzification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74320" y="3218688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347472" y="321868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58952" y="3282696"/>
            <a:ext cx="0" cy="219456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32186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Balance-Preserving Normalization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3621024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" y="362102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58952" y="3685032"/>
            <a:ext cx="0" cy="219456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36210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MVAM: Modified Vogel's Approx. Method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4023360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347472" y="40233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58952" y="4087368"/>
            <a:ext cx="0" cy="219456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40233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MRAM: Modified Russell's Approx. Method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274320" y="4425696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347472" y="442569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58952" y="4489704"/>
            <a:ext cx="0" cy="219456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22960" y="442569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 Optimization &amp; Performance Metrics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09160" y="804672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4782312" y="80467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5193792" y="868680"/>
            <a:ext cx="0" cy="219456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57800" y="80467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Regimes: Penalty-Sharp vs Diffuse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4709160" y="1207008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4782312" y="120700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193792" y="1271016"/>
            <a:ext cx="0" cy="219456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7800" y="120700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Dataset Design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709160" y="1609344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4782312" y="160934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5193792" y="1673352"/>
            <a:ext cx="0" cy="219456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257800" y="160934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Small &amp; Medium Scale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709160" y="2011680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4782312" y="201168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193792" y="2075688"/>
            <a:ext cx="0" cy="219456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257800" y="201168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Large &amp; Extended Scale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709160" y="2414016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4782312" y="241401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193792" y="2478024"/>
            <a:ext cx="0" cy="219456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57800" y="241401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Benchmarking Summary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4709160" y="2816352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4782312" y="281635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5193792" y="2880360"/>
            <a:ext cx="0" cy="219456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257800" y="2816352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Structure vs Problem Size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709160" y="3218688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4782312" y="3218688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5193792" y="3282696"/>
            <a:ext cx="0" cy="219456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257800" y="3218688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Sensitivity Analysis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4709160" y="3621024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4782312" y="3621024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5193792" y="3685032"/>
            <a:ext cx="0" cy="219456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257800" y="3621024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Footprint of Uncertainty (FOU) Sensitivity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4709160" y="4023360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77" name="Text 75"/>
          <p:cNvSpPr/>
          <p:nvPr/>
        </p:nvSpPr>
        <p:spPr>
          <a:xfrm>
            <a:off x="4782312" y="4023360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5193792" y="4087368"/>
            <a:ext cx="0" cy="219456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257800" y="40233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Robustness Assessment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4709160" y="4425696"/>
            <a:ext cx="416052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/>
        </p:spPr>
      </p:sp>
      <p:sp>
        <p:nvSpPr>
          <p:cNvPr id="81" name="Text 79"/>
          <p:cNvSpPr/>
          <p:nvPr/>
        </p:nvSpPr>
        <p:spPr>
          <a:xfrm>
            <a:off x="4782312" y="4425696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5193792" y="4489704"/>
            <a:ext cx="0" cy="219456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257800" y="4425696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Contributions, Limitations &amp; Future Work</a:t>
            </a:r>
            <a:endParaRPr lang="en-US" sz="1200" dirty="0"/>
          </a:p>
        </p:txBody>
      </p:sp>
      <p:sp>
        <p:nvSpPr>
          <p:cNvPr id="84" name="Text 82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Transportation Problem (TP) — Background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4320" y="804672"/>
            <a:ext cx="402336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Introduced by Hitchcock [1] (1941) &amp; Koopmans [2] (1947)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252728"/>
            <a:ext cx="128016" cy="128016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188720"/>
            <a:ext cx="37490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 total shipping cost from m sources → n destinations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728216"/>
            <a:ext cx="128016" cy="128016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8" name="Text 6"/>
          <p:cNvSpPr/>
          <p:nvPr/>
        </p:nvSpPr>
        <p:spPr>
          <a:xfrm>
            <a:off x="521208" y="1664208"/>
            <a:ext cx="37490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variable: x_ij = units shipped from source i to destination j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203704"/>
            <a:ext cx="128016" cy="128016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0" name="Text 8"/>
          <p:cNvSpPr/>
          <p:nvPr/>
        </p:nvSpPr>
        <p:spPr>
          <a:xfrm>
            <a:off x="521208" y="2139696"/>
            <a:ext cx="374904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to: supply &amp; demand constraints + non-negativity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74320" y="2670048"/>
            <a:ext cx="4023360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72491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 Function: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9992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Minimize  Z  =  Σᵢ Σⱼ  cᵢⱼ · xᵢⱼ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11480" y="3319272"/>
            <a:ext cx="3749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cᵢⱼ = unit cost (i→j)   |   xᵢⱼ = units shipped   |   Σᵢ sᵢ = Σⱼ dⱼ  (balance)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777240"/>
            <a:ext cx="4389120" cy="2971800"/>
          </a:xfrm>
          <a:prstGeom prst="rect">
            <a:avLst/>
          </a:prstGeom>
          <a:solidFill>
            <a:srgbClr val="DDE6EE"/>
          </a:solidFill>
          <a:ln w="12700">
            <a:solidFill>
              <a:srgbClr val="0D7C8F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480560" y="777240"/>
            <a:ext cx="43891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Figure: Supply-Demand Network Diagram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(Insert Figure 4.4 — Simplified Workflow) 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Modeling: Type-1 (T1FS) vs Interval Type-2 (IT2FS)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60520" cy="438912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772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Type-1 Fuzzy Set (T1FS)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0332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(Zadeh [6], 1965)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109728" cy="109728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1316736"/>
            <a:ext cx="37490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 grade: precise number ∈ [0,1]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109728" cy="109728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1819656"/>
            <a:ext cx="37490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Suitable for simple linguistic uncertainty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377440"/>
            <a:ext cx="109728" cy="109728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322576"/>
            <a:ext cx="37490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Cannot model uncertainty in the membership function itself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109728" cy="109728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2825496"/>
            <a:ext cx="37490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Limitation: assumes membership perfectly known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777240"/>
            <a:ext cx="416052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777240"/>
            <a:ext cx="4160520" cy="43891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77724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Interval Type-2 Fuzzy Set (IT2FS)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00600" y="103327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(Mendel &amp; John [8])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1371600"/>
            <a:ext cx="109728" cy="1097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4965192" y="1316736"/>
            <a:ext cx="37490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 grade: interval — models higher-order uncertainty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00600" y="1874520"/>
            <a:ext cx="109728" cy="1097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4965192" y="1819656"/>
            <a:ext cx="37490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Bounded by Upper MF (UMF) and Lower MF (LMF)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00600" y="2377440"/>
            <a:ext cx="109728" cy="1097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4965192" y="2322576"/>
            <a:ext cx="37490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Footprint of Uncertainty (FOU) = area between UMF &amp; LMF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00600" y="2880360"/>
            <a:ext cx="109728" cy="10972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4965192" y="2825496"/>
            <a:ext cx="3749040" cy="43891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Captures expert disagreement, noise, incomplete data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274320" y="4151376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151376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IT2FS has a second layer of uncertainty — uncertainty about the membership function itself. This is critical for real-world transportation.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Gaps &amp; 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503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8862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comparative study of MVAM vs MRAM under IT2 uncertainty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804672"/>
            <a:ext cx="41605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00600" y="85039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00600" y="1097280"/>
            <a:ext cx="38862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Pratihar et al. [14] introduced MVAM — but no alternative heuristic tested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609344"/>
            <a:ext cx="41605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16550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1901952"/>
            <a:ext cx="38862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systematic benchmarking across multiple scales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09160" y="1609344"/>
            <a:ext cx="41605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00600" y="165506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901952"/>
            <a:ext cx="38862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Transportation problem structure not studied as performance predictor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414016"/>
            <a:ext cx="41605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4597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2706624"/>
            <a:ext cx="38862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 sensitivity not analyzed in IT2 transportation literature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414016"/>
            <a:ext cx="41605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24597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2706624"/>
            <a:ext cx="388620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balance-restoration mechanism after KM defuzzification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273552"/>
            <a:ext cx="8595360" cy="512064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73552"/>
            <a:ext cx="8229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This thesis fills all six gaps by building a complete IT2-TrFTP pipeline and comparing MVAM vs MRAM at scale.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 &amp;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5029200" cy="3520440"/>
          </a:xfrm>
          <a:prstGeom prst="roundRect">
            <a:avLst>
              <a:gd name="adj" fmla="val 20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2296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Objectives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43891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 an IT2 trapezoidal fuzzification pipeline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664208"/>
            <a:ext cx="43891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KM type-reduction &amp; defuzzification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1396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31520" y="2139696"/>
            <a:ext cx="43891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balance-preserving normalization layer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61518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615184"/>
            <a:ext cx="43891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MVAM vs MRAM under IT2 uncertainty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11480" y="309067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31520" y="3090672"/>
            <a:ext cx="43891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across multiple problem scales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5661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566160"/>
            <a:ext cx="4389120" cy="365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 Cost Magnitude &amp; FOU Sensitivity Analysis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0" y="777240"/>
            <a:ext cx="3383280" cy="35204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623560" y="822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23560" y="11704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D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Included: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623560" y="1444752"/>
            <a:ext cx="3108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Balanced TP only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623560" y="1773936"/>
            <a:ext cx="3108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IT2 trapezoidal fuzzy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623560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MVAM &amp; MRAM (IBFS)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23560" y="2432304"/>
            <a:ext cx="3108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MODI (optimization)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623560" y="2761488"/>
            <a:ext cx="3108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Synthetic datasets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23560" y="3090672"/>
            <a:ext cx="310896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Cost &amp; FOU sensitivity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623560" y="345643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IT2-TrFTP Framework: Three-Dimensional Fuzzification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347472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7724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Geometric Uncertainty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17043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Symbol: αg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426464"/>
            <a:ext cx="2523744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UMF spread/shape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700784"/>
            <a:ext cx="2523744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Wider αg → wider trapezoid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1975104"/>
            <a:ext cx="2523744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spatial ambiguity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7772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777240"/>
            <a:ext cx="2743200" cy="34747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3273552" y="77724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Epistemic Uncertainty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17043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Symbol: 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10128" y="1426464"/>
            <a:ext cx="2523744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LMF contraction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10128" y="1700784"/>
            <a:ext cx="2523744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ρ close to 1 → narrow FOU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10128" y="1975104"/>
            <a:ext cx="2523744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knowledge gap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777240"/>
            <a:ext cx="27432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777240"/>
            <a:ext cx="2743200" cy="34747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0" name="Text 18"/>
          <p:cNvSpPr/>
          <p:nvPr/>
        </p:nvSpPr>
        <p:spPr>
          <a:xfrm>
            <a:off x="6199632" y="777240"/>
            <a:ext cx="25968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Confidence/Variability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36208" y="1170432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D6A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Symbol: γ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36208" y="1426464"/>
            <a:ext cx="2523744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LMF height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36208" y="1700784"/>
            <a:ext cx="2523744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membership certainty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36208" y="1975104"/>
            <a:ext cx="2523744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Orthogonal degree of freedom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2450592"/>
            <a:ext cx="50292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249631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UMF Trapezoid Construction: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277063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Ã_UMF  =  (a, b, c, d)  where: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11480" y="3044952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= x·(1 − αg)   b = x·(1 − αg/2)   c = x·(1 + αg/2)   d = x·(1 + αg)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1480" y="3328416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crisp parameter   αg = geometric uncertainty coefficient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0" y="2450592"/>
            <a:ext cx="3383280" cy="1417320"/>
          </a:xfrm>
          <a:prstGeom prst="rect">
            <a:avLst/>
          </a:prstGeom>
          <a:solidFill>
            <a:srgbClr val="DDE6EE"/>
          </a:solidFill>
          <a:ln w="12700">
            <a:solidFill>
              <a:srgbClr val="0D7C8F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5486400" y="2450592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Figure 3.3: IT2FS with FOU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(Insert from Thesis — UMF/LMF trapezoid diagram) ]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950208"/>
            <a:ext cx="8595360" cy="457200"/>
          </a:xfrm>
          <a:prstGeom prst="roundRect">
            <a:avLst>
              <a:gd name="adj" fmla="val 16000"/>
            </a:avLst>
          </a:prstGeom>
          <a:solidFill>
            <a:srgbClr val="DDE6EE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39502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Fuzzification applies to:  (1) Transportation Costs  cᵢⱼ   |   (2) Supply Values  sᵢ   |   (3) Demand Values  dⱼ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 Type-Reduction &amp; Centroid Defuzzification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5720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0467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Type-Reduction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115568"/>
            <a:ext cx="42976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Karnik–Mendel (KM) Algorithm [9][10]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42976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Computes centroid interval [y_l, y_r]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64208"/>
            <a:ext cx="42976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Iterative switch-point procedure — guaranteed convergence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075688"/>
            <a:ext cx="45720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1480" y="2103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Centroid Formula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414016"/>
            <a:ext cx="42976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y_l = left centroid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2688336"/>
            <a:ext cx="42976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y_r = right centroid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1480" y="2962656"/>
            <a:ext cx="42976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(computed separately)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3374136"/>
            <a:ext cx="457200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11480" y="34015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Defuzzification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11480" y="3712464"/>
            <a:ext cx="42976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y* = (y_l + y_r) / 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1480" y="3986784"/>
            <a:ext cx="42976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y* = crisp scalar value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" y="4261104"/>
            <a:ext cx="42976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as input to transportation algorithms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029200" y="777240"/>
            <a:ext cx="38404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66360" y="84124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Centroid Type-Reduction (KM):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166360" y="11521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C(Ã) = [y_l, y_r]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66360" y="1536192"/>
            <a:ext cx="35661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y_l  = left endpoint of centroid interval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1883664"/>
            <a:ext cx="35661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y_r  = right endpoint of centroid interval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166360" y="2231136"/>
            <a:ext cx="35661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Ã    = IT2 trapezoidal fuzzy number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166360" y="2633472"/>
            <a:ext cx="3566160" cy="0"/>
          </a:xfrm>
          <a:prstGeom prst="line">
            <a:avLst/>
          </a:prstGeom>
          <a:noFill/>
          <a:ln w="12700">
            <a:solidFill>
              <a:srgbClr val="DDE6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66360" y="26974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Crisp Output: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66360" y="298094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y* = (y_l + y_r) / 2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029200" y="3291840"/>
            <a:ext cx="3840480" cy="566928"/>
          </a:xfrm>
          <a:prstGeom prst="rect">
            <a:avLst/>
          </a:prstGeom>
          <a:solidFill>
            <a:srgbClr val="DDE6EE"/>
          </a:solidFill>
          <a:ln w="12700">
            <a:solidFill>
              <a:srgbClr val="0D7C8F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5029200" y="3291840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Figure 3.4 / 3.5: KM Algorithm Flowchart (Insert from Thesis) ]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950208"/>
            <a:ext cx="859536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9502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= 1000 discretization points | Convergence tolerance = 10⁻⁸ | Applied to every cost, supply &amp; demand IT2 parameter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Balance-Preserving Normalization Layer (Novel Contribution)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3931920" cy="347472"/>
          </a:xfrm>
          <a:prstGeom prst="rect">
            <a:avLst/>
          </a:prstGeom>
          <a:solidFill>
            <a:srgbClr val="B52B2B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77724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Post-Defuzzification Imbalance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84048" y="1170432"/>
            <a:ext cx="374904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&amp; demand fuzzified independently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KM centroids diverge slightly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Σsᵢ ≠ Σdⱼ after defuzzification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Transportation problem becomes infeasible!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0560" y="777240"/>
            <a:ext cx="4389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80560" y="777240"/>
            <a:ext cx="4389120" cy="347472"/>
          </a:xfrm>
          <a:prstGeom prst="rect">
            <a:avLst/>
          </a:prstGeom>
          <a:solidFill>
            <a:srgbClr val="1D7A4A"/>
          </a:solidFill>
          <a:ln/>
        </p:spPr>
      </p:sp>
      <p:sp>
        <p:nvSpPr>
          <p:cNvPr id="10" name="Text 8"/>
          <p:cNvSpPr/>
          <p:nvPr/>
        </p:nvSpPr>
        <p:spPr>
          <a:xfrm>
            <a:off x="4590288" y="777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Proportional Normalization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90288" y="1170432"/>
            <a:ext cx="4206240" cy="7498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anchor:  T = (Σs_KM + Σd_KM) / 2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demand:  dⱼ* = dⱼ · (T / Σdⱼ)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 Σsᵢ = Σdⱼ* exactly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331720"/>
            <a:ext cx="8595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23774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Normalization Formula: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237744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dⱼ*  =  dⱼ  ·  ( T / Σⱼ dⱼ )     where   T = ( Σᵢ sᵢ_KM + Σⱼ dⱼ_KM ) / 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27157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dⱼ = raw defuzzified demand   |   T = symmetric anchor   |   Result: exact balance Σsᵢ = Σdⱼ*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74320" y="3200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Mathematical Guarantees: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511296"/>
            <a:ext cx="4160520" cy="384048"/>
          </a:xfrm>
          <a:prstGeom prst="roundRect">
            <a:avLst>
              <a:gd name="adj" fmla="val 19048"/>
            </a:avLst>
          </a:prstGeom>
          <a:solidFill>
            <a:srgbClr val="DDE6EE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3511296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" y="3511296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Exact balance restoration  —  Σsᵢ = Σdⱼ always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511296"/>
            <a:ext cx="4160520" cy="384048"/>
          </a:xfrm>
          <a:prstGeom prst="roundRect">
            <a:avLst>
              <a:gd name="adj" fmla="val 19048"/>
            </a:avLst>
          </a:prstGeom>
          <a:solidFill>
            <a:srgbClr val="DDE6EE"/>
          </a:solidFill>
          <a:ln/>
        </p:spPr>
      </p:sp>
      <p:sp>
        <p:nvSpPr>
          <p:cNvPr id="21" name="Text 19"/>
          <p:cNvSpPr/>
          <p:nvPr/>
        </p:nvSpPr>
        <p:spPr>
          <a:xfrm>
            <a:off x="4782312" y="3511296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93208" y="3511296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Ratio preservation  —  Proportional structure kept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3950208"/>
            <a:ext cx="4160520" cy="384048"/>
          </a:xfrm>
          <a:prstGeom prst="roundRect">
            <a:avLst>
              <a:gd name="adj" fmla="val 19048"/>
            </a:avLst>
          </a:prstGeom>
          <a:solidFill>
            <a:srgbClr val="DDE6EE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" y="3950208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8368" y="3950208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determinism  —  No randomness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3950208"/>
            <a:ext cx="4160520" cy="384048"/>
          </a:xfrm>
          <a:prstGeom prst="roundRect">
            <a:avLst>
              <a:gd name="adj" fmla="val 19048"/>
            </a:avLst>
          </a:prstGeom>
          <a:solidFill>
            <a:srgbClr val="DDE6EE"/>
          </a:solidFill>
          <a:ln/>
        </p:spPr>
      </p:sp>
      <p:sp>
        <p:nvSpPr>
          <p:cNvPr id="27" name="Text 25"/>
          <p:cNvSpPr/>
          <p:nvPr/>
        </p:nvSpPr>
        <p:spPr>
          <a:xfrm>
            <a:off x="4782312" y="3950208"/>
            <a:ext cx="2926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93208" y="3950208"/>
            <a:ext cx="3657600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distortion  —  Correction &lt; 0.02% per element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MVAM — Modified Vogel's Approximation Method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663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412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Steps: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188720"/>
            <a:ext cx="201168" cy="201168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188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170432"/>
            <a:ext cx="4114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row penalty:  Pᵢ = c_i(1) − c_i(2)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1554480"/>
            <a:ext cx="201168" cy="201168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554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" y="1536192"/>
            <a:ext cx="4114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column penalty:  Pⱼ = c_j(1) − c_j(2)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1920240"/>
            <a:ext cx="201168" cy="201168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9202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" y="1901952"/>
            <a:ext cx="4114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row/column with largest penalty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2286000"/>
            <a:ext cx="201168" cy="201168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286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" y="2267712"/>
            <a:ext cx="4114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 max to minimum-cost cell in that row/col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" y="2651760"/>
            <a:ext cx="201168" cy="201168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651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" y="2633472"/>
            <a:ext cx="4114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supply &amp; demand; remove exhausted row/col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048" y="3017520"/>
            <a:ext cx="201168" cy="201168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3017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" y="2999232"/>
            <a:ext cx="4114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until all supplies &amp; demands are satisfied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023360"/>
            <a:ext cx="4663440" cy="36576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023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Pᵢ = c_i(1) − c_i(2)   where  c_i(1) = min cost in row i,   c_i(2) = 2nd min cost in row i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20640" y="777240"/>
            <a:ext cx="37490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57800" y="8412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MVAM Excels: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1143000"/>
            <a:ext cx="347472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Wide cost range (cₘₐₓ − cₘᵢₙ large)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Low noise in cost matrix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Penalty-Sharp regime: clear differentiation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120640" y="2423160"/>
            <a:ext cx="3749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257800" y="24871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MVAM Struggles: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57800" y="2788920"/>
            <a:ext cx="34747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Narrow cost range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High noise (penalties become indistinguishable)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 Penalty-Diffuse regime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20640" y="4005072"/>
            <a:ext cx="3749040" cy="411480"/>
          </a:xfrm>
          <a:prstGeom prst="rect">
            <a:avLst/>
          </a:prstGeom>
          <a:solidFill>
            <a:srgbClr val="DDE6EE"/>
          </a:solidFill>
          <a:ln w="12700">
            <a:solidFill>
              <a:srgbClr val="0D7C8F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5120640" y="40050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Operates on defuzzified crisp cost matrix C* from KM pipeline ]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MRAM — Modified Russell's Approximation Method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66344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4124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Steps: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188720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1887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58368" y="1170432"/>
            <a:ext cx="4114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row reference value:  uᵢ = max_j (cᵢⱼ)  for each row 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84048" y="1554480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" y="15544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58368" y="1536192"/>
            <a:ext cx="4114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col reference value:  vⱼ = max_i (cᵢⱼ)  for each col j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1920240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9202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58368" y="1901952"/>
            <a:ext cx="4114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Russell measure:  Rᵢⱼ = cᵢⱼ − uᵢ − vⱼ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" y="2286000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" y="22860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8368" y="2267712"/>
            <a:ext cx="4114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cell with most negative Rᵢⱼ (highest opportunity)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4048" y="2651760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6517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58368" y="2633472"/>
            <a:ext cx="4114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Allocate max to that cell; update supply &amp; demand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048" y="3017520"/>
            <a:ext cx="201168" cy="201168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" y="30175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58368" y="2999232"/>
            <a:ext cx="411480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until all allocations satisfied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023360"/>
            <a:ext cx="4663440" cy="36576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411480" y="4023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Rᵢⱼ = cᵢⱼ − uᵢ − vⱼ   where  uᵢ = max row cost,   vⱼ = max col cost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120640" y="777240"/>
            <a:ext cx="3749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257800" y="8412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Difference from MVAM: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1143000"/>
            <a:ext cx="34747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MVAM uses local penalty (row/col min diff)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MRAM uses global cost structure (max references)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MRAM estimates opportunity cost relative to entire row/col landscape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120640" y="2395728"/>
            <a:ext cx="3749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257800" y="24597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MRAM Excels: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57800" y="2761488"/>
            <a:ext cx="34747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Narrow cost range (homogeneous matrix)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High noise (penalty signals weak)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Penalty-Diffuse regime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Global topology still informative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120640" y="4005072"/>
            <a:ext cx="3749040" cy="411480"/>
          </a:xfrm>
          <a:prstGeom prst="rect">
            <a:avLst/>
          </a:prstGeom>
          <a:solidFill>
            <a:srgbClr val="DDE6EE"/>
          </a:solidFill>
          <a:ln w="12700">
            <a:solidFill>
              <a:srgbClr val="0D7C8F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5120640" y="40050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Figure 4.1: RAM Allocation Flowchart (Insert from Thesis) ]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20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 Optimization &amp; Performance Evaluation Metrics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9768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412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 Distribution Method (MODI) [5][13]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18872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variables for occupied cells: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uᵢ + vⱼ = cᵢⱼ   for all basic cells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76479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uᵢ = row potential   vⱼ = col potential   cᵢⱼ = cost of basic cell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0574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Opportunity cost for non-basic cells: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32257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Δᵢⱼ = cᵢⱼ − uᵢ − vⱼ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11480" y="26243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Δᵢⱼ = opportunity cost   If all Δᵢⱼ ≥ 0: OPTIMAL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907792"/>
            <a:ext cx="402336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any Δᵢⱼ &lt; 0: loop-shift to reduce cost. Repeat until optimal.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754880" y="777240"/>
            <a:ext cx="411480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84124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Metrics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92040" y="1216152"/>
            <a:ext cx="3840480" cy="429768"/>
          </a:xfrm>
          <a:prstGeom prst="roundRect">
            <a:avLst>
              <a:gd name="adj" fmla="val 17021"/>
            </a:avLst>
          </a:prstGeom>
          <a:solidFill>
            <a:srgbClr val="F5F8FA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1243584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IBFS Cost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14630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Z_IBFS = Σᵢ Σⱼ cᵢⱼ · xᵢⱼ⁽⁰⁾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1700784"/>
            <a:ext cx="3840480" cy="429768"/>
          </a:xfrm>
          <a:prstGeom prst="roundRect">
            <a:avLst>
              <a:gd name="adj" fmla="val 17021"/>
            </a:avLst>
          </a:prstGeom>
          <a:solidFill>
            <a:srgbClr val="F5F8FA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1728216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 Cost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83480" y="194767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Z_OPT = Σᵢ Σⱼ cᵢⱼ · xᵢⱼ*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92040" y="2185416"/>
            <a:ext cx="3840480" cy="429768"/>
          </a:xfrm>
          <a:prstGeom prst="roundRect">
            <a:avLst>
              <a:gd name="adj" fmla="val 17021"/>
            </a:avLst>
          </a:prstGeom>
          <a:solidFill>
            <a:srgbClr val="F5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21284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Improvement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83480" y="243230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Δ% = (Z_IBFS − Z_OPT)/Z_IBFS × 100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2670048"/>
            <a:ext cx="3840480" cy="429768"/>
          </a:xfrm>
          <a:prstGeom prst="roundRect">
            <a:avLst>
              <a:gd name="adj" fmla="val 17021"/>
            </a:avLst>
          </a:prstGeom>
          <a:solidFill>
            <a:srgbClr val="F5F8FA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2697480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291693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repetitions, 95% CI (t-dist.)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92040" y="3154680"/>
            <a:ext cx="3840480" cy="429768"/>
          </a:xfrm>
          <a:prstGeom prst="roundRect">
            <a:avLst>
              <a:gd name="adj" fmla="val 17021"/>
            </a:avLst>
          </a:prstGeom>
          <a:solidFill>
            <a:srgbClr val="F5F8FA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182112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 Iterations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83480" y="34015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until Δᵢⱼ ≥ 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3803904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8039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MVAM and MRAM are followed by the SAME MODI optimizer → isolates initialization quality from final cost comparison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20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Regimes: Penalty-Sharp vs Penalty-Diffuse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36118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43200" cy="420624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77724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Penalty-Sharp Regime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" y="101498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MVAM Favored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25272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84048" y="1517904"/>
            <a:ext cx="91440" cy="91440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" y="1463040"/>
            <a:ext cx="23774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cost range: cₘᵢₙ=1, cₘₐₓ=40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84048" y="1901952"/>
            <a:ext cx="91440" cy="91440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1847088"/>
            <a:ext cx="23774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noise: σ ≤ 0.5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" y="2286000"/>
            <a:ext cx="91440" cy="91440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" y="2231136"/>
            <a:ext cx="23774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 cost differentiation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84048" y="2670048"/>
            <a:ext cx="91440" cy="91440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2615184"/>
            <a:ext cx="23774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 signals clearly distinct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47472" y="3547872"/>
            <a:ext cx="2596896" cy="658368"/>
          </a:xfrm>
          <a:prstGeom prst="roundRect">
            <a:avLst>
              <a:gd name="adj" fmla="val 11111"/>
            </a:avLst>
          </a:prstGeom>
          <a:solidFill>
            <a:srgbClr val="DDE6EE"/>
          </a:solidFill>
          <a:ln/>
        </p:spPr>
      </p:sp>
      <p:sp>
        <p:nvSpPr>
          <p:cNvPr id="18" name="Text 16"/>
          <p:cNvSpPr/>
          <p:nvPr/>
        </p:nvSpPr>
        <p:spPr>
          <a:xfrm>
            <a:off x="402336" y="3584448"/>
            <a:ext cx="2523744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Instances: 40×60, 90×90, 110×110, 150×150, 200×180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0" y="777240"/>
            <a:ext cx="2743200" cy="36118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777240"/>
            <a:ext cx="2743200" cy="42062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3273552" y="77724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Penalty-Diffuse Regime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73552" y="101498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MRAM Favored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310128" y="125272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10128" y="1517904"/>
            <a:ext cx="91440" cy="914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/>
          <p:nvPr/>
        </p:nvSpPr>
        <p:spPr>
          <a:xfrm>
            <a:off x="3456432" y="1463040"/>
            <a:ext cx="23774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cost range: cₘᵢₙ=10, cₘₐₓ=16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10128" y="1901952"/>
            <a:ext cx="91440" cy="914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7" name="Text 25"/>
          <p:cNvSpPr/>
          <p:nvPr/>
        </p:nvSpPr>
        <p:spPr>
          <a:xfrm>
            <a:off x="3456432" y="1847088"/>
            <a:ext cx="23774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noise: σ ≥ 2.0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10128" y="2286000"/>
            <a:ext cx="91440" cy="914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9" name="Text 27"/>
          <p:cNvSpPr/>
          <p:nvPr/>
        </p:nvSpPr>
        <p:spPr>
          <a:xfrm>
            <a:off x="3456432" y="2231136"/>
            <a:ext cx="23774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Column-cluster structure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10128" y="2670048"/>
            <a:ext cx="91440" cy="9144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31" name="Text 29"/>
          <p:cNvSpPr/>
          <p:nvPr/>
        </p:nvSpPr>
        <p:spPr>
          <a:xfrm>
            <a:off x="3456432" y="2615184"/>
            <a:ext cx="23774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 signals nearly equal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273552" y="3547872"/>
            <a:ext cx="2596896" cy="658368"/>
          </a:xfrm>
          <a:prstGeom prst="roundRect">
            <a:avLst>
              <a:gd name="adj" fmla="val 11111"/>
            </a:avLst>
          </a:prstGeom>
          <a:solidFill>
            <a:srgbClr val="DDE6EE"/>
          </a:solidFill>
          <a:ln/>
        </p:spPr>
      </p:sp>
      <p:sp>
        <p:nvSpPr>
          <p:cNvPr id="33" name="Text 31"/>
          <p:cNvSpPr/>
          <p:nvPr/>
        </p:nvSpPr>
        <p:spPr>
          <a:xfrm>
            <a:off x="3328416" y="3584448"/>
            <a:ext cx="2523744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Instances: 60×60, 100×100, 120×120, 200×200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26480" y="777240"/>
            <a:ext cx="2743200" cy="361188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777240"/>
            <a:ext cx="2743200" cy="420624"/>
          </a:xfrm>
          <a:prstGeom prst="rect">
            <a:avLst/>
          </a:prstGeom>
          <a:solidFill>
            <a:srgbClr val="C27A00"/>
          </a:solidFill>
          <a:ln/>
        </p:spPr>
      </p:sp>
      <p:sp>
        <p:nvSpPr>
          <p:cNvPr id="36" name="Text 34"/>
          <p:cNvSpPr/>
          <p:nvPr/>
        </p:nvSpPr>
        <p:spPr>
          <a:xfrm>
            <a:off x="6199632" y="777240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Parity Zone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199632" y="101498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Tie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36208" y="1252728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Conditions: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36208" y="1517904"/>
            <a:ext cx="91440" cy="91440"/>
          </a:xfrm>
          <a:prstGeom prst="ellipse">
            <a:avLst/>
          </a:prstGeom>
          <a:solidFill>
            <a:srgbClr val="C27A00"/>
          </a:solidFill>
          <a:ln/>
        </p:spPr>
      </p:sp>
      <p:sp>
        <p:nvSpPr>
          <p:cNvPr id="40" name="Text 38"/>
          <p:cNvSpPr/>
          <p:nvPr/>
        </p:nvSpPr>
        <p:spPr>
          <a:xfrm>
            <a:off x="6382512" y="1463040"/>
            <a:ext cx="23774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cost range &amp; noise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36208" y="1901952"/>
            <a:ext cx="91440" cy="91440"/>
          </a:xfrm>
          <a:prstGeom prst="ellipse">
            <a:avLst/>
          </a:prstGeom>
          <a:solidFill>
            <a:srgbClr val="C27A00"/>
          </a:solidFill>
          <a:ln/>
        </p:spPr>
      </p:sp>
      <p:sp>
        <p:nvSpPr>
          <p:cNvPr id="42" name="Text 40"/>
          <p:cNvSpPr/>
          <p:nvPr/>
        </p:nvSpPr>
        <p:spPr>
          <a:xfrm>
            <a:off x="6382512" y="1847088"/>
            <a:ext cx="23774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strong cluster bias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36208" y="2286000"/>
            <a:ext cx="91440" cy="91440"/>
          </a:xfrm>
          <a:prstGeom prst="ellipse">
            <a:avLst/>
          </a:prstGeom>
          <a:solidFill>
            <a:srgbClr val="C27A00"/>
          </a:solidFill>
          <a:ln/>
        </p:spPr>
      </p:sp>
      <p:sp>
        <p:nvSpPr>
          <p:cNvPr id="44" name="Text 42"/>
          <p:cNvSpPr/>
          <p:nvPr/>
        </p:nvSpPr>
        <p:spPr>
          <a:xfrm>
            <a:off x="6382512" y="2231136"/>
            <a:ext cx="23774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methods converge similarly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36208" y="2670048"/>
            <a:ext cx="91440" cy="91440"/>
          </a:xfrm>
          <a:prstGeom prst="ellipse">
            <a:avLst/>
          </a:prstGeom>
          <a:solidFill>
            <a:srgbClr val="C27A00"/>
          </a:solidFill>
          <a:ln/>
        </p:spPr>
      </p:sp>
      <p:sp>
        <p:nvSpPr>
          <p:cNvPr id="46" name="Text 44"/>
          <p:cNvSpPr/>
          <p:nvPr/>
        </p:nvSpPr>
        <p:spPr>
          <a:xfrm>
            <a:off x="6382512" y="2615184"/>
            <a:ext cx="23774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structural advantage exists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199632" y="3547872"/>
            <a:ext cx="2596896" cy="658368"/>
          </a:xfrm>
          <a:prstGeom prst="roundRect">
            <a:avLst>
              <a:gd name="adj" fmla="val 11111"/>
            </a:avLst>
          </a:prstGeom>
          <a:solidFill>
            <a:srgbClr val="DDE6EE"/>
          </a:solidFill>
          <a:ln/>
        </p:spPr>
      </p:sp>
      <p:sp>
        <p:nvSpPr>
          <p:cNvPr id="48" name="Text 46"/>
          <p:cNvSpPr/>
          <p:nvPr/>
        </p:nvSpPr>
        <p:spPr>
          <a:xfrm>
            <a:off x="6254496" y="3584448"/>
            <a:ext cx="2523744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27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Instances: 3×4, 6×8, 150×150 (borderline)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74320" y="4315968"/>
            <a:ext cx="8595360" cy="420624"/>
          </a:xfrm>
          <a:prstGeom prst="roundRect">
            <a:avLst>
              <a:gd name="adj" fmla="val 17391"/>
            </a:avLst>
          </a:prstGeom>
          <a:solidFill>
            <a:srgbClr val="1B2A4A"/>
          </a:solidFill>
          <a:ln/>
        </p:spPr>
      </p:sp>
      <p:sp>
        <p:nvSpPr>
          <p:cNvPr id="50" name="Text 48"/>
          <p:cNvSpPr/>
          <p:nvPr/>
        </p:nvSpPr>
        <p:spPr>
          <a:xfrm>
            <a:off x="457200" y="4315968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Predictive Accuracy on all 9 non-parity instances — Structure, not size, determines the winner.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20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Synthetic Dataset Design &amp; Experimental Protocol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41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Synthetic Datasets?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384048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public IT2 fuzzy TP benchmark exists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instances only in Pratihar et al. [14]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 to isolate structural regime effects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reproducible via fixed seeds (NumPy PCG64)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777240"/>
            <a:ext cx="42976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8412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Inventory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161288"/>
            <a:ext cx="4023360" cy="256032"/>
          </a:xfrm>
          <a:prstGeom prst="roundRect">
            <a:avLst>
              <a:gd name="adj" fmla="val 28571"/>
            </a:avLst>
          </a:prstGeom>
          <a:solidFill>
            <a:srgbClr val="F5F8FA"/>
          </a:solidFill>
          <a:ln/>
        </p:spPr>
      </p:sp>
      <p:sp>
        <p:nvSpPr>
          <p:cNvPr id="10" name="Text 8"/>
          <p:cNvSpPr/>
          <p:nvPr/>
        </p:nvSpPr>
        <p:spPr>
          <a:xfrm>
            <a:off x="4736592" y="1179576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06440" y="1179576"/>
            <a:ext cx="2834640" cy="2194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3×4, 6×8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453896"/>
            <a:ext cx="4023360" cy="256032"/>
          </a:xfrm>
          <a:prstGeom prst="roundRect">
            <a:avLst>
              <a:gd name="adj" fmla="val 28571"/>
            </a:avLst>
          </a:prstGeom>
          <a:solidFill>
            <a:srgbClr val="F5F8FA"/>
          </a:solidFill>
          <a:ln/>
        </p:spPr>
      </p:sp>
      <p:sp>
        <p:nvSpPr>
          <p:cNvPr id="13" name="Text 11"/>
          <p:cNvSpPr/>
          <p:nvPr/>
        </p:nvSpPr>
        <p:spPr>
          <a:xfrm>
            <a:off x="4736592" y="1472184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06440" y="1472184"/>
            <a:ext cx="2834640" cy="2194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40×60, 60×60, 90×90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746504"/>
            <a:ext cx="4023360" cy="256032"/>
          </a:xfrm>
          <a:prstGeom prst="roundRect">
            <a:avLst>
              <a:gd name="adj" fmla="val 28571"/>
            </a:avLst>
          </a:prstGeom>
          <a:solidFill>
            <a:srgbClr val="F5F8FA"/>
          </a:solidFill>
          <a:ln/>
        </p:spPr>
      </p:sp>
      <p:sp>
        <p:nvSpPr>
          <p:cNvPr id="16" name="Text 14"/>
          <p:cNvSpPr/>
          <p:nvPr/>
        </p:nvSpPr>
        <p:spPr>
          <a:xfrm>
            <a:off x="4736592" y="17647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06440" y="1764792"/>
            <a:ext cx="2834640" cy="2194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90×90, 100×100, 110×110, 120×120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039112"/>
            <a:ext cx="4023360" cy="256032"/>
          </a:xfrm>
          <a:prstGeom prst="roundRect">
            <a:avLst>
              <a:gd name="adj" fmla="val 28571"/>
            </a:avLst>
          </a:prstGeom>
          <a:solidFill>
            <a:srgbClr val="F5F8FA"/>
          </a:solidFill>
          <a:ln/>
        </p:spPr>
      </p:sp>
      <p:sp>
        <p:nvSpPr>
          <p:cNvPr id="19" name="Text 17"/>
          <p:cNvSpPr/>
          <p:nvPr/>
        </p:nvSpPr>
        <p:spPr>
          <a:xfrm>
            <a:off x="4736592" y="20574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06440" y="2057400"/>
            <a:ext cx="2834640" cy="21945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150×150, 200×180, 200×200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" y="24688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Generation Parameters: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74320" y="2743200"/>
            <a:ext cx="2057400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7432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23160" y="2743200"/>
            <a:ext cx="2057400" cy="256032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25" name="Text 23"/>
          <p:cNvSpPr/>
          <p:nvPr/>
        </p:nvSpPr>
        <p:spPr>
          <a:xfrm>
            <a:off x="2423160" y="27432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0" y="2743200"/>
            <a:ext cx="2057400" cy="256032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27432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720840" y="2743200"/>
            <a:ext cx="2057400" cy="25603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9" name="Text 27"/>
          <p:cNvSpPr/>
          <p:nvPr/>
        </p:nvSpPr>
        <p:spPr>
          <a:xfrm>
            <a:off x="6720840" y="2743200"/>
            <a:ext cx="2057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3017520"/>
            <a:ext cx="2057400" cy="27432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3017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Supply/Demand Range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423160" y="3017520"/>
            <a:ext cx="2057400" cy="27432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33" name="Text 31"/>
          <p:cNvSpPr/>
          <p:nvPr/>
        </p:nvSpPr>
        <p:spPr>
          <a:xfrm>
            <a:off x="2423160" y="3017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(5,15)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3017520"/>
            <a:ext cx="2057400" cy="27432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0" y="3017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(50,120)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720840" y="3017520"/>
            <a:ext cx="2057400" cy="27432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37" name="Text 35"/>
          <p:cNvSpPr/>
          <p:nvPr/>
        </p:nvSpPr>
        <p:spPr>
          <a:xfrm>
            <a:off x="6720840" y="3017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(80,200)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3310128"/>
            <a:ext cx="20574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" y="33101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Range (Sharp)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423160" y="3310128"/>
            <a:ext cx="20574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2423160" y="33101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(1,40)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0" y="3310128"/>
            <a:ext cx="20574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0" y="33101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(1,40)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720840" y="3310128"/>
            <a:ext cx="20574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6720840" y="331012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(1,40)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3602736"/>
            <a:ext cx="2057400" cy="27432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36027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Range (Diffuse)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423160" y="3602736"/>
            <a:ext cx="2057400" cy="27432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49" name="Text 47"/>
          <p:cNvSpPr/>
          <p:nvPr/>
        </p:nvSpPr>
        <p:spPr>
          <a:xfrm>
            <a:off x="2423160" y="36027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(10,16)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572000" y="3602736"/>
            <a:ext cx="2057400" cy="27432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51" name="Text 49"/>
          <p:cNvSpPr/>
          <p:nvPr/>
        </p:nvSpPr>
        <p:spPr>
          <a:xfrm>
            <a:off x="4572000" y="36027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(10,16)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720840" y="3602736"/>
            <a:ext cx="2057400" cy="27432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53" name="Text 51"/>
          <p:cNvSpPr/>
          <p:nvPr/>
        </p:nvSpPr>
        <p:spPr>
          <a:xfrm>
            <a:off x="6720840" y="360273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(10,16)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4320" y="3895344"/>
            <a:ext cx="20574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274320" y="38953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Noise Level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423160" y="3895344"/>
            <a:ext cx="20574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2423160" y="38953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σ=0.5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572000" y="3895344"/>
            <a:ext cx="20574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0" y="38953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σ=2.0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720840" y="3895344"/>
            <a:ext cx="20574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6720840" y="389534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σ=5.0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572000" y="2450592"/>
            <a:ext cx="4297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4709160" y="25146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Benchmarking Protocol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4736592" y="2862072"/>
            <a:ext cx="100584" cy="100584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65" name="Text 63"/>
          <p:cNvSpPr/>
          <p:nvPr/>
        </p:nvSpPr>
        <p:spPr>
          <a:xfrm>
            <a:off x="4901184" y="2816352"/>
            <a:ext cx="38404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repetitions per (instance, method) pair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4736592" y="3209544"/>
            <a:ext cx="100584" cy="100584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67" name="Text 65"/>
          <p:cNvSpPr/>
          <p:nvPr/>
        </p:nvSpPr>
        <p:spPr>
          <a:xfrm>
            <a:off x="4901184" y="3163824"/>
            <a:ext cx="38404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CI using Student's t-distribution (ν=29)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736592" y="3557016"/>
            <a:ext cx="100584" cy="100584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69" name="Text 67"/>
          <p:cNvSpPr/>
          <p:nvPr/>
        </p:nvSpPr>
        <p:spPr>
          <a:xfrm>
            <a:off x="4901184" y="3511296"/>
            <a:ext cx="38404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 &lt; 10% required for valid measurement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4736592" y="3904488"/>
            <a:ext cx="100584" cy="100584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71" name="Text 69"/>
          <p:cNvSpPr/>
          <p:nvPr/>
        </p:nvSpPr>
        <p:spPr>
          <a:xfrm>
            <a:off x="4901184" y="3858768"/>
            <a:ext cx="38404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timer: Python time.perf_counter()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4736592" y="4251960"/>
            <a:ext cx="100584" cy="100584"/>
          </a:xfrm>
          <a:prstGeom prst="ellipse">
            <a:avLst/>
          </a:prstGeom>
          <a:solidFill>
            <a:srgbClr val="0D7C8F"/>
          </a:solidFill>
          <a:ln/>
        </p:spPr>
      </p:sp>
      <p:sp>
        <p:nvSpPr>
          <p:cNvPr id="73" name="Text 71"/>
          <p:cNvSpPr/>
          <p:nvPr/>
        </p:nvSpPr>
        <p:spPr>
          <a:xfrm>
            <a:off x="4901184" y="4206240"/>
            <a:ext cx="38404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datasets — seed-controlled, fully reproducible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20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Small &amp; Medium Scale (3×4 and 40×60 / 60×60)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160520" cy="329184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77724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3×4 Instance (Parity Zone | Pratihar et al. [14])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7472" y="1152144"/>
            <a:ext cx="128016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1521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673352" y="1152144"/>
            <a:ext cx="128016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/>
          <p:nvPr/>
        </p:nvSpPr>
        <p:spPr>
          <a:xfrm>
            <a:off x="1673352" y="11521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MVAM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99232" y="1152144"/>
            <a:ext cx="1280160" cy="3200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2999232" y="1152144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MRAM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1490472"/>
            <a:ext cx="12801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14904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IBFS Cost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673352" y="1490472"/>
            <a:ext cx="12801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1673352" y="14904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69.1461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99232" y="1490472"/>
            <a:ext cx="12801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999232" y="149047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67.0683 ✓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" y="1828800"/>
            <a:ext cx="1280160" cy="32004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 Cost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673352" y="1828800"/>
            <a:ext cx="1280160" cy="32004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22" name="Text 20"/>
          <p:cNvSpPr/>
          <p:nvPr/>
        </p:nvSpPr>
        <p:spPr>
          <a:xfrm>
            <a:off x="1673352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67.0683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99232" y="1828800"/>
            <a:ext cx="1280160" cy="32004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24" name="Text 22"/>
          <p:cNvSpPr/>
          <p:nvPr/>
        </p:nvSpPr>
        <p:spPr>
          <a:xfrm>
            <a:off x="2999232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67.0683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" y="2167128"/>
            <a:ext cx="12801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" y="21671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 Iters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673352" y="2167128"/>
            <a:ext cx="12801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1673352" y="21671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999232" y="2167128"/>
            <a:ext cx="1280160" cy="3200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2999232" y="216712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✓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2505456"/>
            <a:ext cx="1280160" cy="32004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32" name="Text 30"/>
          <p:cNvSpPr/>
          <p:nvPr/>
        </p:nvSpPr>
        <p:spPr>
          <a:xfrm>
            <a:off x="347472" y="25054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673352" y="2505456"/>
            <a:ext cx="1280160" cy="32004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34" name="Text 32"/>
          <p:cNvSpPr/>
          <p:nvPr/>
        </p:nvSpPr>
        <p:spPr>
          <a:xfrm>
            <a:off x="1673352" y="25054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Parity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999232" y="2505456"/>
            <a:ext cx="1280160" cy="320040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36" name="Text 34"/>
          <p:cNvSpPr/>
          <p:nvPr/>
        </p:nvSpPr>
        <p:spPr>
          <a:xfrm>
            <a:off x="2999232" y="2505456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4048" y="2926080"/>
            <a:ext cx="3886200" cy="65836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converge to identical optimal cost.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uses 1 MODI iteration vs VAM's 3.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Table 6.2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617720" y="777240"/>
            <a:ext cx="41605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17720" y="777240"/>
            <a:ext cx="4160520" cy="329184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40" name="Text 38"/>
          <p:cNvSpPr/>
          <p:nvPr/>
        </p:nvSpPr>
        <p:spPr>
          <a:xfrm>
            <a:off x="4727448" y="777240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40×60 — Penalty-Sharp (VAM wins)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663440" y="1152144"/>
            <a:ext cx="1280160" cy="256032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42" name="Text 40"/>
          <p:cNvSpPr/>
          <p:nvPr/>
        </p:nvSpPr>
        <p:spPr>
          <a:xfrm>
            <a:off x="4663440" y="11521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IBFS Cost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989320" y="1152144"/>
            <a:ext cx="1280160" cy="256032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44" name="Text 42"/>
          <p:cNvSpPr/>
          <p:nvPr/>
        </p:nvSpPr>
        <p:spPr>
          <a:xfrm>
            <a:off x="5989320" y="11521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2,776,524 ✓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0" y="1152144"/>
            <a:ext cx="1280160" cy="256032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0" y="115214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3,487,971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1426464"/>
            <a:ext cx="128016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14264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 Iters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89320" y="1426464"/>
            <a:ext cx="128016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5989320" y="14264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 ✓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315200" y="1426464"/>
            <a:ext cx="128016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7315200" y="142646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663440" y="1700784"/>
            <a:ext cx="1280160" cy="256032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54" name="Text 52"/>
          <p:cNvSpPr/>
          <p:nvPr/>
        </p:nvSpPr>
        <p:spPr>
          <a:xfrm>
            <a:off x="4663440" y="1700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 Cost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989320" y="1700784"/>
            <a:ext cx="1280160" cy="256032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56" name="Text 54"/>
          <p:cNvSpPr/>
          <p:nvPr/>
        </p:nvSpPr>
        <p:spPr>
          <a:xfrm>
            <a:off x="5989320" y="1700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1,452,634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315200" y="1700784"/>
            <a:ext cx="1280160" cy="256032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58" name="Text 56"/>
          <p:cNvSpPr/>
          <p:nvPr/>
        </p:nvSpPr>
        <p:spPr>
          <a:xfrm>
            <a:off x="7315200" y="170078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1,452,634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63440" y="1975104"/>
            <a:ext cx="128016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4663440" y="19751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989320" y="1975104"/>
            <a:ext cx="128016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5989320" y="19751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1.75× faster ✓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7315200" y="1975104"/>
            <a:ext cx="128016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7315200" y="1975104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617720" y="2340864"/>
            <a:ext cx="416052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4617720" y="2340864"/>
            <a:ext cx="4160520" cy="32918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7" name="Text 65"/>
          <p:cNvSpPr/>
          <p:nvPr/>
        </p:nvSpPr>
        <p:spPr>
          <a:xfrm>
            <a:off x="4727448" y="2340864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60×60 — Penalty-Diffuse (RAM wins)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4663440" y="2715768"/>
            <a:ext cx="1280160" cy="256032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69" name="Text 67"/>
          <p:cNvSpPr/>
          <p:nvPr/>
        </p:nvSpPr>
        <p:spPr>
          <a:xfrm>
            <a:off x="4663440" y="2715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IBFS Cost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989320" y="2715768"/>
            <a:ext cx="1280160" cy="256032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71" name="Text 69"/>
          <p:cNvSpPr/>
          <p:nvPr/>
        </p:nvSpPr>
        <p:spPr>
          <a:xfrm>
            <a:off x="5989320" y="2715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40,943 ✗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315200" y="2715768"/>
            <a:ext cx="1280160" cy="256032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73" name="Text 71"/>
          <p:cNvSpPr/>
          <p:nvPr/>
        </p:nvSpPr>
        <p:spPr>
          <a:xfrm>
            <a:off x="7315200" y="27157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29,547 ✓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4663440" y="2990088"/>
            <a:ext cx="128016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5" name="Text 73"/>
          <p:cNvSpPr/>
          <p:nvPr/>
        </p:nvSpPr>
        <p:spPr>
          <a:xfrm>
            <a:off x="4663440" y="29900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 Iters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5989320" y="2990088"/>
            <a:ext cx="128016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5"/>
          <p:cNvSpPr/>
          <p:nvPr/>
        </p:nvSpPr>
        <p:spPr>
          <a:xfrm>
            <a:off x="5989320" y="29900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102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315200" y="2990088"/>
            <a:ext cx="128016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7"/>
          <p:cNvSpPr/>
          <p:nvPr/>
        </p:nvSpPr>
        <p:spPr>
          <a:xfrm>
            <a:off x="7315200" y="299008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✓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4663440" y="3264408"/>
            <a:ext cx="1280160" cy="256032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81" name="Text 79"/>
          <p:cNvSpPr/>
          <p:nvPr/>
        </p:nvSpPr>
        <p:spPr>
          <a:xfrm>
            <a:off x="4663440" y="3264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 Cost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5989320" y="3264408"/>
            <a:ext cx="1280160" cy="256032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83" name="Text 81"/>
          <p:cNvSpPr/>
          <p:nvPr/>
        </p:nvSpPr>
        <p:spPr>
          <a:xfrm>
            <a:off x="5989320" y="3264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28,983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7315200" y="3264408"/>
            <a:ext cx="1280160" cy="256032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85" name="Text 83"/>
          <p:cNvSpPr/>
          <p:nvPr/>
        </p:nvSpPr>
        <p:spPr>
          <a:xfrm>
            <a:off x="7315200" y="326440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28,983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4663440" y="3538728"/>
            <a:ext cx="128016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7" name="Text 85"/>
          <p:cNvSpPr/>
          <p:nvPr/>
        </p:nvSpPr>
        <p:spPr>
          <a:xfrm>
            <a:off x="4663440" y="3538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5989320" y="3538728"/>
            <a:ext cx="128016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9" name="Text 87"/>
          <p:cNvSpPr/>
          <p:nvPr/>
        </p:nvSpPr>
        <p:spPr>
          <a:xfrm>
            <a:off x="5989320" y="3538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7315200" y="3538728"/>
            <a:ext cx="128016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1" name="Text 89"/>
          <p:cNvSpPr/>
          <p:nvPr/>
        </p:nvSpPr>
        <p:spPr>
          <a:xfrm>
            <a:off x="7315200" y="353872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1.48× faster ✓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274320" y="4005072"/>
            <a:ext cx="8595360" cy="402336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</p:sp>
      <p:sp>
        <p:nvSpPr>
          <p:cNvPr id="93" name="Text 91"/>
          <p:cNvSpPr/>
          <p:nvPr/>
        </p:nvSpPr>
        <p:spPr>
          <a:xfrm>
            <a:off x="457200" y="400507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40×60 vs 60×60: Same scale, opposite winners — proof that STRUCTURE, not SIZE, determines outcome.</a:t>
            </a:r>
            <a:endParaRPr lang="en-US" sz="1300" dirty="0"/>
          </a:p>
        </p:txBody>
      </p:sp>
      <p:sp>
        <p:nvSpPr>
          <p:cNvPr id="94" name="Text 92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20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Results: Large &amp; Extended Scale (90×90 to 200×200)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1097280" cy="31089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772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389888" y="777240"/>
            <a:ext cx="1280160" cy="31089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1389888" y="777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88336" y="777240"/>
            <a:ext cx="1097280" cy="31089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2688336" y="7772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IBFS Winner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03904" y="777240"/>
            <a:ext cx="1645920" cy="31089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3803904" y="77724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 Iters (VAM/RAM)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68112" y="777240"/>
            <a:ext cx="1280160" cy="31089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5468112" y="77724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Winner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766560" y="777240"/>
            <a:ext cx="1097280" cy="310896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6766560" y="77724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 Ratio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1115568"/>
            <a:ext cx="1097280" cy="329184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11155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90×90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389888" y="1115568"/>
            <a:ext cx="1280160" cy="329184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19" name="Text 17"/>
          <p:cNvSpPr/>
          <p:nvPr/>
        </p:nvSpPr>
        <p:spPr>
          <a:xfrm>
            <a:off x="1389888" y="11155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688336" y="1115568"/>
            <a:ext cx="1097280" cy="329184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21" name="Text 19"/>
          <p:cNvSpPr/>
          <p:nvPr/>
        </p:nvSpPr>
        <p:spPr>
          <a:xfrm>
            <a:off x="2688336" y="11155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03904" y="1115568"/>
            <a:ext cx="1645920" cy="329184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23" name="Text 21"/>
          <p:cNvSpPr/>
          <p:nvPr/>
        </p:nvSpPr>
        <p:spPr>
          <a:xfrm>
            <a:off x="3803904" y="111556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127 / 171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68112" y="1115568"/>
            <a:ext cx="1280160" cy="329184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25" name="Text 23"/>
          <p:cNvSpPr/>
          <p:nvPr/>
        </p:nvSpPr>
        <p:spPr>
          <a:xfrm>
            <a:off x="5468112" y="11155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VAM+MODI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766560" y="1115568"/>
            <a:ext cx="1097280" cy="329184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11155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1.24×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1463040"/>
            <a:ext cx="10972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14630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100×100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389888" y="1463040"/>
            <a:ext cx="128016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1389888" y="14630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88336" y="1463040"/>
            <a:ext cx="1097280" cy="32918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2688336" y="14630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803904" y="1463040"/>
            <a:ext cx="16459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3803904" y="14630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172 / 65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68112" y="1463040"/>
            <a:ext cx="1280160" cy="32918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7" name="Text 35"/>
          <p:cNvSpPr/>
          <p:nvPr/>
        </p:nvSpPr>
        <p:spPr>
          <a:xfrm>
            <a:off x="5468112" y="146304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RAM+MODI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66560" y="1463040"/>
            <a:ext cx="10972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6766560" y="14630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1.51×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1810512"/>
            <a:ext cx="1097280" cy="329184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18105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110×110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1389888" y="1810512"/>
            <a:ext cx="1280160" cy="329184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43" name="Text 41"/>
          <p:cNvSpPr/>
          <p:nvPr/>
        </p:nvSpPr>
        <p:spPr>
          <a:xfrm>
            <a:off x="1389888" y="18105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688336" y="1810512"/>
            <a:ext cx="1097280" cy="329184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45" name="Text 43"/>
          <p:cNvSpPr/>
          <p:nvPr/>
        </p:nvSpPr>
        <p:spPr>
          <a:xfrm>
            <a:off x="2688336" y="18105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3803904" y="1810512"/>
            <a:ext cx="1645920" cy="329184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47" name="Text 45"/>
          <p:cNvSpPr/>
          <p:nvPr/>
        </p:nvSpPr>
        <p:spPr>
          <a:xfrm>
            <a:off x="3803904" y="181051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 / 277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468112" y="1810512"/>
            <a:ext cx="1280160" cy="329184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49" name="Text 47"/>
          <p:cNvSpPr/>
          <p:nvPr/>
        </p:nvSpPr>
        <p:spPr>
          <a:xfrm>
            <a:off x="5468112" y="1810512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VAM+MODI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766560" y="1810512"/>
            <a:ext cx="1097280" cy="329184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51" name="Text 49"/>
          <p:cNvSpPr/>
          <p:nvPr/>
        </p:nvSpPr>
        <p:spPr>
          <a:xfrm>
            <a:off x="6766560" y="181051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1.30×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74320" y="2157984"/>
            <a:ext cx="10972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274320" y="21579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120×120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389888" y="2157984"/>
            <a:ext cx="128016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1389888" y="215798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688336" y="2157984"/>
            <a:ext cx="1097280" cy="32918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7" name="Text 55"/>
          <p:cNvSpPr/>
          <p:nvPr/>
        </p:nvSpPr>
        <p:spPr>
          <a:xfrm>
            <a:off x="2688336" y="21579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803904" y="2157984"/>
            <a:ext cx="16459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3803904" y="2157984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/ —  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468112" y="2157984"/>
            <a:ext cx="1280160" cy="32918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1" name="Text 59"/>
          <p:cNvSpPr/>
          <p:nvPr/>
        </p:nvSpPr>
        <p:spPr>
          <a:xfrm>
            <a:off x="5468112" y="2157984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RAM+MODI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766560" y="2157984"/>
            <a:ext cx="10972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6766560" y="215798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1.42×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74320" y="2505456"/>
            <a:ext cx="1097280" cy="329184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65" name="Text 63"/>
          <p:cNvSpPr/>
          <p:nvPr/>
        </p:nvSpPr>
        <p:spPr>
          <a:xfrm>
            <a:off x="274320" y="250545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150×150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1389888" y="2505456"/>
            <a:ext cx="1280160" cy="329184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67" name="Text 65"/>
          <p:cNvSpPr/>
          <p:nvPr/>
        </p:nvSpPr>
        <p:spPr>
          <a:xfrm>
            <a:off x="1389888" y="25054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Parity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688336" y="2505456"/>
            <a:ext cx="1097280" cy="329184"/>
          </a:xfrm>
          <a:prstGeom prst="rect">
            <a:avLst/>
          </a:prstGeom>
          <a:solidFill>
            <a:srgbClr val="C27A00"/>
          </a:solidFill>
          <a:ln/>
        </p:spPr>
      </p:sp>
      <p:sp>
        <p:nvSpPr>
          <p:cNvPr id="69" name="Text 67"/>
          <p:cNvSpPr/>
          <p:nvPr/>
        </p:nvSpPr>
        <p:spPr>
          <a:xfrm>
            <a:off x="2688336" y="250545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3803904" y="2505456"/>
            <a:ext cx="1645920" cy="329184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71" name="Text 69"/>
          <p:cNvSpPr/>
          <p:nvPr/>
        </p:nvSpPr>
        <p:spPr>
          <a:xfrm>
            <a:off x="3803904" y="250545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  / 137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5468112" y="2505456"/>
            <a:ext cx="1280160" cy="329184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73" name="Text 71"/>
          <p:cNvSpPr/>
          <p:nvPr/>
        </p:nvSpPr>
        <p:spPr>
          <a:xfrm>
            <a:off x="5468112" y="2505456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VAM+MODI*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766560" y="2505456"/>
            <a:ext cx="1097280" cy="329184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75" name="Text 73"/>
          <p:cNvSpPr/>
          <p:nvPr/>
        </p:nvSpPr>
        <p:spPr>
          <a:xfrm>
            <a:off x="6766560" y="250545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1.33×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74320" y="2852928"/>
            <a:ext cx="10972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7" name="Text 75"/>
          <p:cNvSpPr/>
          <p:nvPr/>
        </p:nvSpPr>
        <p:spPr>
          <a:xfrm>
            <a:off x="274320" y="28529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200×180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1389888" y="2852928"/>
            <a:ext cx="128016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9" name="Text 77"/>
          <p:cNvSpPr/>
          <p:nvPr/>
        </p:nvSpPr>
        <p:spPr>
          <a:xfrm>
            <a:off x="1389888" y="28529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2688336" y="2852928"/>
            <a:ext cx="1097280" cy="329184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81" name="Text 79"/>
          <p:cNvSpPr/>
          <p:nvPr/>
        </p:nvSpPr>
        <p:spPr>
          <a:xfrm>
            <a:off x="2688336" y="28529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3803904" y="2852928"/>
            <a:ext cx="164592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3" name="Text 81"/>
          <p:cNvSpPr/>
          <p:nvPr/>
        </p:nvSpPr>
        <p:spPr>
          <a:xfrm>
            <a:off x="3803904" y="285292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 / 148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5468112" y="2852928"/>
            <a:ext cx="1280160" cy="329184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85" name="Text 83"/>
          <p:cNvSpPr/>
          <p:nvPr/>
        </p:nvSpPr>
        <p:spPr>
          <a:xfrm>
            <a:off x="5468112" y="28529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VAM+MODI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6766560" y="2852928"/>
            <a:ext cx="1097280" cy="32918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7" name="Text 85"/>
          <p:cNvSpPr/>
          <p:nvPr/>
        </p:nvSpPr>
        <p:spPr>
          <a:xfrm>
            <a:off x="6766560" y="285292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1.16×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274320" y="3200400"/>
            <a:ext cx="1097280" cy="329184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89" name="Text 87"/>
          <p:cNvSpPr/>
          <p:nvPr/>
        </p:nvSpPr>
        <p:spPr>
          <a:xfrm>
            <a:off x="274320" y="32004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200×200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1389888" y="3200400"/>
            <a:ext cx="1280160" cy="329184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91" name="Text 89"/>
          <p:cNvSpPr/>
          <p:nvPr/>
        </p:nvSpPr>
        <p:spPr>
          <a:xfrm>
            <a:off x="1389888" y="3200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Diffuse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2688336" y="3200400"/>
            <a:ext cx="1097280" cy="32918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3" name="Text 91"/>
          <p:cNvSpPr/>
          <p:nvPr/>
        </p:nvSpPr>
        <p:spPr>
          <a:xfrm>
            <a:off x="2688336" y="32004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3803904" y="3200400"/>
            <a:ext cx="1645920" cy="329184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95" name="Text 93"/>
          <p:cNvSpPr/>
          <p:nvPr/>
        </p:nvSpPr>
        <p:spPr>
          <a:xfrm>
            <a:off x="3803904" y="320040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449 / 207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5468112" y="3200400"/>
            <a:ext cx="1280160" cy="32918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7" name="Text 95"/>
          <p:cNvSpPr/>
          <p:nvPr/>
        </p:nvSpPr>
        <p:spPr>
          <a:xfrm>
            <a:off x="5468112" y="3200400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RAM+MODI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6766560" y="3200400"/>
            <a:ext cx="1097280" cy="329184"/>
          </a:xfrm>
          <a:prstGeom prst="rect">
            <a:avLst/>
          </a:prstGeom>
          <a:solidFill>
            <a:srgbClr val="F5F8FA"/>
          </a:solidFill>
          <a:ln/>
        </p:spPr>
      </p:sp>
      <p:sp>
        <p:nvSpPr>
          <p:cNvPr id="99" name="Text 97"/>
          <p:cNvSpPr/>
          <p:nvPr/>
        </p:nvSpPr>
        <p:spPr>
          <a:xfrm>
            <a:off x="6766560" y="32004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1.50×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274320" y="3657600"/>
            <a:ext cx="8595360" cy="402336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</p:sp>
      <p:sp>
        <p:nvSpPr>
          <p:cNvPr id="101" name="Text 99"/>
          <p:cNvSpPr/>
          <p:nvPr/>
        </p:nvSpPr>
        <p:spPr>
          <a:xfrm>
            <a:off x="457200" y="3657600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large scale: 90×90 (Sharp→VAM), 100×100 (Diffuse→RAM), 110×110 (Sharp→VAM) — alternating despite increasing size.</a:t>
            </a:r>
            <a:endParaRPr lang="en-US" sz="1300" dirty="0"/>
          </a:p>
        </p:txBody>
      </p:sp>
      <p:sp>
        <p:nvSpPr>
          <p:cNvPr id="102" name="Text 100"/>
          <p:cNvSpPr/>
          <p:nvPr/>
        </p:nvSpPr>
        <p:spPr>
          <a:xfrm>
            <a:off x="274320" y="4133088"/>
            <a:ext cx="8595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Tables 6.6, 6.8, 6.10 | *VAM faster despite parity due to simpler internals</a:t>
            </a:r>
            <a:endParaRPr lang="en-US" sz="1000" dirty="0"/>
          </a:p>
        </p:txBody>
      </p:sp>
      <p:sp>
        <p:nvSpPr>
          <p:cNvPr id="103" name="Text 101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20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Benchmarking Summary — All 11 Instances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96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89611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Determinism of IBFS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1280160"/>
            <a:ext cx="34290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 wins all 5 sharp instances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68680" y="1527048"/>
            <a:ext cx="34290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 wins all 4 diffuse instances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1773936"/>
            <a:ext cx="34290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structural prediction rate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804672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896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896112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 Equalizes Final Cost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03520" y="1280160"/>
            <a:ext cx="34290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of 11 instances: identical post-MODI cost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0" y="1527048"/>
            <a:ext cx="34290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Remaining 4: difference &lt; 0.20 units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303520" y="1773936"/>
            <a:ext cx="34290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(&lt;0.003% relative difference)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103120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8680" y="219456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Speed Follows MODI Iters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578608"/>
            <a:ext cx="34290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Dominant cost = MODI refinement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2825496"/>
            <a:ext cx="34290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VAM: 1.05–1.18× faster at IBFS only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" y="3072384"/>
            <a:ext cx="34290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 overhead reverses advantage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2103120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2194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03520" y="2194560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Amplifies, Not Determines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303520" y="2578608"/>
            <a:ext cx="34290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200×200: largest gaps observed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0" y="2825496"/>
            <a:ext cx="34290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direction determined by structure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03520" y="3072384"/>
            <a:ext cx="34290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consecutive large sizes → alternating winner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401568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3493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8680" y="349300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Reliability Increases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68680" y="3877056"/>
            <a:ext cx="34290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3×4: CV &gt; 50% (noise dominated)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" y="4123944"/>
            <a:ext cx="34290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6×8: CV &lt; 10% (reproducible)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68680" y="4370832"/>
            <a:ext cx="34290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60×60+: CV &lt; 4% (highly reliable)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09160" y="3401568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00600" y="3493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03520" y="3493008"/>
            <a:ext cx="3429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Universal Winner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303520" y="3877056"/>
            <a:ext cx="34290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VAM+MODI faster: 6 instances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303520" y="4123944"/>
            <a:ext cx="34290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RAM+MODI faster: 4 instances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03520" y="4370832"/>
            <a:ext cx="3429000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N/S tie: 1 instance (3×4)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0" y="4041648"/>
            <a:ext cx="3657600" cy="347472"/>
          </a:xfrm>
          <a:prstGeom prst="rect">
            <a:avLst/>
          </a:prstGeom>
          <a:solidFill>
            <a:srgbClr val="DDE6EE"/>
          </a:solidFill>
          <a:ln w="12700">
            <a:solidFill>
              <a:srgbClr val="0D7C8F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2743200" y="4041648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Figure 6.1: Complete Timing Benchmark Summary (Insert from Thesis) ]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20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Structure vs Problem Size as Performance Determinant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8595360" cy="566928"/>
          </a:xfrm>
          <a:prstGeom prst="roundRect">
            <a:avLst>
              <a:gd name="adj" fmla="val 1290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7772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Thesis Hypothesis: Transportation problem structure (penalty topology) is a STRONGER predictor than problem size.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27432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463040"/>
            <a:ext cx="2743200" cy="329184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463040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184708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Within-Group Size Alternation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" y="2176272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90×90 → VAM wins (Sharp)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2505456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100×100 → RAM wins (Diffuse)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2834640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110×110 → VAM wins (Sharp)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3163824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scale class, 3 different structural regimes → 3 different winners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1463040"/>
            <a:ext cx="27432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463040"/>
            <a:ext cx="2743200" cy="329184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16" name="Text 14"/>
          <p:cNvSpPr/>
          <p:nvPr/>
        </p:nvSpPr>
        <p:spPr>
          <a:xfrm>
            <a:off x="3273552" y="1463040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73552" y="184708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Cross-Group Structure Consistency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73552" y="2176272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Sharp instances (any size) → VAM wins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73552" y="2505456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Diffuse instances (any size) → RAM wins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73552" y="2834640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 predicts direction at EVERY scale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1463040"/>
            <a:ext cx="274320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463040"/>
            <a:ext cx="2743200" cy="329184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23" name="Text 21"/>
          <p:cNvSpPr/>
          <p:nvPr/>
        </p:nvSpPr>
        <p:spPr>
          <a:xfrm>
            <a:off x="6199632" y="1463040"/>
            <a:ext cx="2596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199632" y="1847088"/>
            <a:ext cx="2596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Modulates Magnitude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199632" y="2176272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200×200 penalty-diffuse: VAM gap = 15.1%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99632" y="2505456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(larger than 60×60 gap of 28.2%)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99632" y="2834640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 diffuseness compounds with size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199632" y="3163824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DIRECTION is always structure-determined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4242816"/>
            <a:ext cx="8595360" cy="475488"/>
          </a:xfrm>
          <a:prstGeom prst="roundRect">
            <a:avLst>
              <a:gd name="adj" fmla="val 15385"/>
            </a:avLst>
          </a:prstGeom>
          <a:solidFill>
            <a:srgbClr val="0D7C8F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242816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Conclusion: Structural classification (penalty-sharp / penalty-diffuse) achieves 100% predictive accuracy on 9 non-parity instances.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20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Magnitude Sensitivity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41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Perturbation Design: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3840480" cy="1051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UMF &amp; LMF vertices scaled by M ∈ {0.80, 0.90, 1.10, 1.20}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 gap ratios preserved (uncertainty structure unchanged)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 type-reduction re-run on each perturbed dataset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&amp; demand unchanged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777240"/>
            <a:ext cx="4297680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8412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Perturbation Levels (Table 7.1):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45152" y="1170432"/>
            <a:ext cx="4114800" cy="201168"/>
          </a:xfrm>
          <a:prstGeom prst="roundRect">
            <a:avLst>
              <a:gd name="adj" fmla="val 36364"/>
            </a:avLst>
          </a:prstGeom>
          <a:solidFill>
            <a:srgbClr val="F5F8F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188720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 ×0.80  —  −20% (cost reduction)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45152" y="1389888"/>
            <a:ext cx="4114800" cy="201168"/>
          </a:xfrm>
          <a:prstGeom prst="roundRect">
            <a:avLst>
              <a:gd name="adj" fmla="val 36364"/>
            </a:avLst>
          </a:prstGeom>
          <a:solidFill>
            <a:srgbClr val="F5F8FA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408176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 ×0.90  —  −10%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45152" y="1609344"/>
            <a:ext cx="4114800" cy="201168"/>
          </a:xfrm>
          <a:prstGeom prst="roundRect">
            <a:avLst>
              <a:gd name="adj" fmla="val 36364"/>
            </a:avLst>
          </a:prstGeom>
          <a:solidFill>
            <a:srgbClr val="0D7C8F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627632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 ×1.00  —  Baseline (Chapter 6)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45152" y="1828800"/>
            <a:ext cx="4114800" cy="201168"/>
          </a:xfrm>
          <a:prstGeom prst="roundRect">
            <a:avLst>
              <a:gd name="adj" fmla="val 36364"/>
            </a:avLst>
          </a:prstGeom>
          <a:solidFill>
            <a:srgbClr val="F5F8FA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847088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 ×1.10  —  +10%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45152" y="2048256"/>
            <a:ext cx="4114800" cy="201168"/>
          </a:xfrm>
          <a:prstGeom prst="roundRect">
            <a:avLst>
              <a:gd name="adj" fmla="val 36364"/>
            </a:avLst>
          </a:prstGeom>
          <a:solidFill>
            <a:srgbClr val="F5F8F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2066544"/>
            <a:ext cx="40050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 ×1.20  —  +20% (cost increase)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359152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359152"/>
            <a:ext cx="2743200" cy="292608"/>
          </a:xfrm>
          <a:prstGeom prst="rect">
            <a:avLst/>
          </a:prstGeom>
          <a:solidFill>
            <a:srgbClr val="C27A00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235915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3×4 (Parity)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" y="2706624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RAM IBFS superior in all 5 scenarios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" y="3035808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Both converge to same MODI cost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" y="3364992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VAM improvement % = 3.00% (exact constant)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359152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359152"/>
            <a:ext cx="2743200" cy="292608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27" name="Text 25"/>
          <p:cNvSpPr/>
          <p:nvPr/>
        </p:nvSpPr>
        <p:spPr>
          <a:xfrm>
            <a:off x="3273552" y="235915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40×60 (Sharp)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73552" y="2706624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VAM IBFS superior in all 5 scenarios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73552" y="3035808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VAM+MODI 1.69–1.86× faster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73552" y="3364992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Final costs within 0.003%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2359152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359152"/>
            <a:ext cx="2743200" cy="2926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6199632" y="235915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100×100 (Diffuse)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99632" y="2706624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RAM IBFS superior in all 5 scenarios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99632" y="3035808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RAM+MODI 1.52–1.71× faster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99632" y="3364992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RAM improvement ≈ 1.01–1.02%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050792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0D7C8F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0507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Finding: IBFS ranking, pipeline speed, and final cost equality — ALL stable across ±20% cost perturbation.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20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Footprint of Uncertainty (FOU) Sensitivity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1480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8412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 Perturbation Design: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384048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Gap quantities: G1 = b₁−a₁   G2 = b₂−a₂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 = a₃−b₃   G4 = a₄−b₄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LMF: b₁ᴺ = a₁ + G1×M  (and similarly for b₂,b₃,b₄)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M&lt;1 → narrow FOU   M&gt;1 → wide FOU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0" y="777240"/>
            <a:ext cx="42976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8412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 Perturbation Levels (Table 7.8):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45152" y="1170432"/>
            <a:ext cx="4114800" cy="164592"/>
          </a:xfrm>
          <a:prstGeom prst="roundRect">
            <a:avLst>
              <a:gd name="adj" fmla="val 44444"/>
            </a:avLst>
          </a:prstGeom>
          <a:solidFill>
            <a:srgbClr val="F5F8FA"/>
          </a:solidFill>
          <a:ln/>
        </p:spPr>
      </p:sp>
      <p:sp>
        <p:nvSpPr>
          <p:cNvPr id="10" name="Text 8"/>
          <p:cNvSpPr/>
          <p:nvPr/>
        </p:nvSpPr>
        <p:spPr>
          <a:xfrm>
            <a:off x="4709160" y="1188720"/>
            <a:ext cx="4005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  ×0.80  —  FOU narrows by 20%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45152" y="1353312"/>
            <a:ext cx="4114800" cy="164592"/>
          </a:xfrm>
          <a:prstGeom prst="roundRect">
            <a:avLst>
              <a:gd name="adj" fmla="val 44444"/>
            </a:avLst>
          </a:prstGeom>
          <a:solidFill>
            <a:srgbClr val="F5F8FA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1371600"/>
            <a:ext cx="4005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F2  ×0.90  —  FOU narrows by 10%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45152" y="1536192"/>
            <a:ext cx="4114800" cy="164592"/>
          </a:xfrm>
          <a:prstGeom prst="roundRect">
            <a:avLst>
              <a:gd name="adj" fmla="val 44444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554480"/>
            <a:ext cx="4005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 ×1.00  —  Baseline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45152" y="1719072"/>
            <a:ext cx="4114800" cy="164592"/>
          </a:xfrm>
          <a:prstGeom prst="roundRect">
            <a:avLst>
              <a:gd name="adj" fmla="val 44444"/>
            </a:avLst>
          </a:prstGeom>
          <a:solidFill>
            <a:srgbClr val="F5F8FA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737360"/>
            <a:ext cx="4005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F3  ×1.10  —  FOU widens by 10%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45152" y="1901952"/>
            <a:ext cx="4114800" cy="164592"/>
          </a:xfrm>
          <a:prstGeom prst="roundRect">
            <a:avLst>
              <a:gd name="adj" fmla="val 44444"/>
            </a:avLst>
          </a:prstGeom>
          <a:solidFill>
            <a:srgbClr val="F5F8FA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1920240"/>
            <a:ext cx="400507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F4  ×1.20  —  FOU widens by 20%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176272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176272"/>
            <a:ext cx="2743200" cy="292608"/>
          </a:xfrm>
          <a:prstGeom prst="rect">
            <a:avLst/>
          </a:prstGeom>
          <a:solidFill>
            <a:srgbClr val="C27A00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217627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" y="2523744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RAM IBFS superior in all FOU scenarios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7472" y="2852928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VAM improvement ≈ 3.00% (stable)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7472" y="3182112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Wider FOU → slight cost decrease (KM centroid effect)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0" y="2176272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176272"/>
            <a:ext cx="2743200" cy="292608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27" name="Text 25"/>
          <p:cNvSpPr/>
          <p:nvPr/>
        </p:nvSpPr>
        <p:spPr>
          <a:xfrm>
            <a:off x="3273552" y="217627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40×60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73552" y="2523744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VAM IBFS advantage maintained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73552" y="2852928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VAM+MODI 1.69–1.87× faster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73552" y="3182112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MODI costs within 0.002%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126480" y="2176272"/>
            <a:ext cx="27432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26480" y="2176272"/>
            <a:ext cx="2743200" cy="29260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3" name="Text 31"/>
          <p:cNvSpPr/>
          <p:nvPr/>
        </p:nvSpPr>
        <p:spPr>
          <a:xfrm>
            <a:off x="6199632" y="2176272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100×100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199632" y="2523744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RAM IBFS advantage maintained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99632" y="2852928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RAM+MODI 1.60–1.65× faster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199632" y="3182112"/>
            <a:ext cx="2596896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Monotone cost decrease as FOU widens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4005072"/>
            <a:ext cx="8595360" cy="402336"/>
          </a:xfrm>
          <a:prstGeom prst="roundRect">
            <a:avLst>
              <a:gd name="adj" fmla="val 18182"/>
            </a:avLst>
          </a:prstGeom>
          <a:solidFill>
            <a:srgbClr val="1B2A4A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4005072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 Effect: Wider FOU → slightly lower defuzzified costs (KM centroid shifts). Does NOT change algorithm rankings.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200400" y="4480560"/>
            <a:ext cx="2743200" cy="347472"/>
          </a:xfrm>
          <a:prstGeom prst="rect">
            <a:avLst/>
          </a:prstGeom>
          <a:solidFill>
            <a:srgbClr val="DDE6EE"/>
          </a:solidFill>
          <a:ln w="12700">
            <a:solidFill>
              <a:srgbClr val="0D7C8F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3200400" y="4480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7C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Figure 7.11: Complete Sensitivity Analysis Overview (Insert from Thesis) ]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Joint Robustness Assessment — 24 Perturbation Experiments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0" y="777240"/>
            <a:ext cx="4572000" cy="932688"/>
          </a:xfrm>
          <a:prstGeom prst="roundRect">
            <a:avLst>
              <a:gd name="adj" fmla="val 7843"/>
            </a:avLst>
          </a:prstGeom>
          <a:solidFill>
            <a:srgbClr val="0D7C8F"/>
          </a:solidFill>
          <a:ln/>
        </p:spPr>
      </p:sp>
      <p:sp>
        <p:nvSpPr>
          <p:cNvPr id="5" name="Text 3"/>
          <p:cNvSpPr/>
          <p:nvPr/>
        </p:nvSpPr>
        <p:spPr>
          <a:xfrm>
            <a:off x="2377440" y="777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Ranking Reversals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2377440" y="1298448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24 independent perturbation experiments (3 scales × 2 types × 4 levels)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8288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Map — IBFS Winner by Scenario (all identical = stable):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2121408"/>
            <a:ext cx="2084832" cy="512064"/>
          </a:xfrm>
          <a:prstGeom prst="roundRect">
            <a:avLst>
              <a:gd name="adj" fmla="val 14286"/>
            </a:avLst>
          </a:prstGeom>
          <a:solidFill>
            <a:srgbClr val="0D7C8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212140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-20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Winner: RAM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0592" y="2121408"/>
            <a:ext cx="2084832" cy="512064"/>
          </a:xfrm>
          <a:prstGeom prst="roundRect">
            <a:avLst>
              <a:gd name="adj" fmla="val 14286"/>
            </a:avLst>
          </a:prstGeom>
          <a:solidFill>
            <a:srgbClr val="0D7C8F"/>
          </a:solidFill>
          <a:ln/>
        </p:spPr>
      </p:sp>
      <p:sp>
        <p:nvSpPr>
          <p:cNvPr id="11" name="Text 9"/>
          <p:cNvSpPr/>
          <p:nvPr/>
        </p:nvSpPr>
        <p:spPr>
          <a:xfrm>
            <a:off x="2496312" y="212140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-10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Winner: RAM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26864" y="2121408"/>
            <a:ext cx="2084832" cy="512064"/>
          </a:xfrm>
          <a:prstGeom prst="roundRect">
            <a:avLst>
              <a:gd name="adj" fmla="val 14286"/>
            </a:avLst>
          </a:prstGeom>
          <a:solidFill>
            <a:srgbClr val="0D7C8F"/>
          </a:solidFill>
          <a:ln/>
        </p:spPr>
      </p:sp>
      <p:sp>
        <p:nvSpPr>
          <p:cNvPr id="13" name="Text 11"/>
          <p:cNvSpPr/>
          <p:nvPr/>
        </p:nvSpPr>
        <p:spPr>
          <a:xfrm>
            <a:off x="4672584" y="212140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+10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Winner: RAM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03136" y="2121408"/>
            <a:ext cx="2084832" cy="512064"/>
          </a:xfrm>
          <a:prstGeom prst="roundRect">
            <a:avLst>
              <a:gd name="adj" fmla="val 14286"/>
            </a:avLst>
          </a:prstGeom>
          <a:solidFill>
            <a:srgbClr val="0D7C8F"/>
          </a:solidFill>
          <a:ln/>
        </p:spPr>
      </p:sp>
      <p:sp>
        <p:nvSpPr>
          <p:cNvPr id="15" name="Text 13"/>
          <p:cNvSpPr/>
          <p:nvPr/>
        </p:nvSpPr>
        <p:spPr>
          <a:xfrm>
            <a:off x="6848856" y="2121408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3×4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+20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Winner: RAM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688336"/>
            <a:ext cx="2084832" cy="512064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688336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40×60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-20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Winner: VAM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450592" y="2688336"/>
            <a:ext cx="2084832" cy="512064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2496312" y="2688336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40×60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-10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Winner: VAM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26864" y="2688336"/>
            <a:ext cx="2084832" cy="512064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4672584" y="2688336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40×60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+10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Winner: VAM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803136" y="2688336"/>
            <a:ext cx="2084832" cy="512064"/>
          </a:xfrm>
          <a:prstGeom prst="roundRect">
            <a:avLst>
              <a:gd name="adj" fmla="val 14286"/>
            </a:avLst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6848856" y="2688336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40×60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+20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Winner: VAM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255264"/>
            <a:ext cx="2084832" cy="512064"/>
          </a:xfrm>
          <a:prstGeom prst="roundRect">
            <a:avLst>
              <a:gd name="adj" fmla="val 14286"/>
            </a:avLst>
          </a:prstGeom>
          <a:solidFill>
            <a:srgbClr val="C27A00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3255264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100×100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 -20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Winner: RAM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450592" y="3255264"/>
            <a:ext cx="2084832" cy="512064"/>
          </a:xfrm>
          <a:prstGeom prst="roundRect">
            <a:avLst>
              <a:gd name="adj" fmla="val 14286"/>
            </a:avLst>
          </a:prstGeom>
          <a:solidFill>
            <a:srgbClr val="C27A00"/>
          </a:solidFill>
          <a:ln/>
        </p:spPr>
      </p:sp>
      <p:sp>
        <p:nvSpPr>
          <p:cNvPr id="27" name="Text 25"/>
          <p:cNvSpPr/>
          <p:nvPr/>
        </p:nvSpPr>
        <p:spPr>
          <a:xfrm>
            <a:off x="2496312" y="3255264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100×100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 -10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Winner: RAM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26864" y="3255264"/>
            <a:ext cx="2084832" cy="512064"/>
          </a:xfrm>
          <a:prstGeom prst="roundRect">
            <a:avLst>
              <a:gd name="adj" fmla="val 14286"/>
            </a:avLst>
          </a:prstGeom>
          <a:solidFill>
            <a:srgbClr val="C27A00"/>
          </a:solidFill>
          <a:ln/>
        </p:spPr>
      </p:sp>
      <p:sp>
        <p:nvSpPr>
          <p:cNvPr id="29" name="Text 27"/>
          <p:cNvSpPr/>
          <p:nvPr/>
        </p:nvSpPr>
        <p:spPr>
          <a:xfrm>
            <a:off x="4672584" y="3255264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100×100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 +10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Winner: RAM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03136" y="3255264"/>
            <a:ext cx="2084832" cy="512064"/>
          </a:xfrm>
          <a:prstGeom prst="roundRect">
            <a:avLst>
              <a:gd name="adj" fmla="val 14286"/>
            </a:avLst>
          </a:prstGeom>
          <a:solidFill>
            <a:srgbClr val="C27A00"/>
          </a:solidFill>
          <a:ln/>
        </p:spPr>
      </p:sp>
      <p:sp>
        <p:nvSpPr>
          <p:cNvPr id="31" name="Text 29"/>
          <p:cNvSpPr/>
          <p:nvPr/>
        </p:nvSpPr>
        <p:spPr>
          <a:xfrm>
            <a:off x="6848856" y="3255264"/>
            <a:ext cx="1993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100×100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 +20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Winner: RAM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4320" y="3822192"/>
            <a:ext cx="41605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S1: Perfect ranking stability under cost perturbation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709160" y="3822192"/>
            <a:ext cx="41605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S2: Perfect ranking stability under FOU perturbation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4320" y="4096512"/>
            <a:ext cx="41605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S3: MODI final cost equal across all scenarios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709160" y="4096512"/>
            <a:ext cx="41605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S4: Improvement rate invariance (LP basis invariance theorem)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" y="4370832"/>
            <a:ext cx="41605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S5: FOU perturbation produces monotone cost shifts only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09160" y="4370832"/>
            <a:ext cx="416052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S6: Structural classification is perturbation-invariant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Contributions, Limitations &amp; Future Research Directions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457200" cy="804672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7724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85039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IT2-TrFTP Pipeline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124712"/>
            <a:ext cx="3493008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end-to-end: 3D fuzzification + KM + normalization + dual IBFS + MODI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77724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77240"/>
            <a:ext cx="457200" cy="804672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77724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257800" y="85039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Structural Classification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57800" y="1124712"/>
            <a:ext cx="3493008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Penalty-sharp / Penalty-diffuse framework — 100% predictive accuracy on non-parity instances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69164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691640"/>
            <a:ext cx="457200" cy="804672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169164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176479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Balance-Enforcement Layer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039112"/>
            <a:ext cx="3493008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Novel normalization restoring Σsᵢ = Σdⱼ after asymmetric KM defuzzification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1691640"/>
            <a:ext cx="416052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691640"/>
            <a:ext cx="457200" cy="804672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69164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57800" y="1764792"/>
            <a:ext cx="3493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 Sensitivity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2039112"/>
            <a:ext cx="3493008" cy="38404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+ FOU robustness — new result: FOU does not cause ranking reversals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670048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11480" y="2715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11480" y="3017520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Synthetic datasets only — no real-world validation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3291840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Only MVAM vs MRAM compared (other heuristics excluded)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11480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Fuzzification parameters (δ, α, β, γ) not varied systematically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2670048"/>
            <a:ext cx="416052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2715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7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Research Directions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846320" y="3017520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Pre-computation structural diagnostic (CV-based)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0" y="3291840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Replace KM with Nie–Tan [44] approximation at large scale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3566160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Validate on real logistics datasets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3840480"/>
            <a:ext cx="38404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Extend to multi-objective IT2-TrFTP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274320" y="3931920"/>
            <a:ext cx="8595360" cy="384048"/>
          </a:xfrm>
          <a:prstGeom prst="roundRect">
            <a:avLst>
              <a:gd name="adj" fmla="val 19048"/>
            </a:avLst>
          </a:prstGeom>
          <a:solidFill>
            <a:srgbClr val="1B2A4A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39319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 performance is structurally determined — understanding cost topology is the key to principled deployment decisions.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046720" y="4800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7C8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BANGLADESH UNIVERSITY OF ENGINEERING AND TECHNOLOGY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4173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371600" y="2423160"/>
            <a:ext cx="6400800" cy="0"/>
          </a:xfrm>
          <a:prstGeom prst="line">
            <a:avLst/>
          </a:prstGeom>
          <a:noFill/>
          <a:ln w="25400">
            <a:solidFill>
              <a:srgbClr val="0D7C8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578608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DDE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Comparative Performance and Robustness Analysis of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DDE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Modified Vogel's and Modified Russell's Approximation Methods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DDE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Interval Type-2 Trapezoidal Fuzzy Uncertainty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E6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 Sadiqul Haque  (2008082)     |     Md Tanjil Haque  (2008094)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04164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Supervisor: Dr. Kais Bin Zaman, Professor, IPE, BUET  |  June 2026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A1A2E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828032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E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 Welcome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IT2-TrFTP Thesis Presentation</dc:title>
  <dc:subject>PptxGenJS Presentation</dc:subject>
  <dc:creator>PptxGenJS</dc:creator>
  <cp:lastModifiedBy>PptxGenJS</cp:lastModifiedBy>
  <cp:revision>1</cp:revision>
  <dcterms:created xsi:type="dcterms:W3CDTF">2026-06-09T07:48:26Z</dcterms:created>
  <dcterms:modified xsi:type="dcterms:W3CDTF">2026-06-09T07:48:26Z</dcterms:modified>
</cp:coreProperties>
</file>